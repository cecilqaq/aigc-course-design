
<file path=[Content_Types].xml><?xml version="1.0" encoding="utf-8"?>
<ns0:Types xmlns:ns0="http://schemas.openxmlformats.org/package/2006/content-types">
  <ns0:Default Extension="xml" ContentType="application/xml"/>
  <ns0:Default Extension="rels" ContentType="application/vnd.openxmlformats-package.relationships+xml"/>
  <ns0:Default Extension="jpeg" ContentType="image/jpeg"/>
  <ns0:Default Extension="jpg" ContentType="image/jpg"/>
  <ns0:Default Extension="svg" ContentType="image/svg+xml"/>
  <ns0:Default Extension="png" ContentType="image/png"/>
  <ns0:Default Extension="gif" ContentType="image/gif"/>
  <ns0:Default Extension="m4v" ContentType="video/mp4"/>
  <ns0:Default Extension="mp4" ContentType="video/mp4"/>
  <ns0:Default Extension="vml" ContentType="application/vnd.openxmlformats-officedocument.vmlDrawing"/>
  <ns0:Default Extension="xlsx" ContentType="application/vnd.openxmlformats-officedocument.spreadsheetml.sheet"/>
  <ns0:Override PartName="/ppt/presentation.xml" ContentType="application/vnd.openxmlformats-officedocument.presentationml.presentation.main+xml"/>
  <ns0:Override PartName="/ppt/notesMasters/notesMaster1.xml" ContentType="application/vnd.openxmlformats-officedocument.presentationml.notesMaster+xml"/>
  <ns0:Override PartName="/ppt/slideMasters/slideMaster1.xml" ContentType="application/vnd.openxmlformats-officedocument.presentationml.slideMaster+xml"/>
  <ns0:Override PartName="/ppt/slides/slide1.xml" ContentType="application/vnd.openxmlformats-officedocument.presentationml.slide+xml"/>
  <ns0:Override PartName="/ppt/slideMasters/slideMaster2.xml" ContentType="application/vnd.openxmlformats-officedocument.presentationml.slideMaster+xml"/>
  <ns0:Override PartName="/ppt/slides/slide2.xml" ContentType="application/vnd.openxmlformats-officedocument.presentationml.slide+xml"/>
  <ns0:Override PartName="/ppt/slideMasters/slideMaster3.xml" ContentType="application/vnd.openxmlformats-officedocument.presentationml.slideMaster+xml"/>
  <ns0:Override PartName="/ppt/slides/slide3.xml" ContentType="application/vnd.openxmlformats-officedocument.presentationml.slide+xml"/>
  <ns0:Override PartName="/ppt/slideMasters/slideMaster4.xml" ContentType="application/vnd.openxmlformats-officedocument.presentationml.slideMaster+xml"/>
  <ns0:Override PartName="/ppt/slides/slide4.xml" ContentType="application/vnd.openxmlformats-officedocument.presentationml.slide+xml"/>
  <ns0:Override PartName="/ppt/slideMasters/slideMaster5.xml" ContentType="application/vnd.openxmlformats-officedocument.presentationml.slideMaster+xml"/>
  <ns0:Override PartName="/ppt/slides/slide5.xml" ContentType="application/vnd.openxmlformats-officedocument.presentationml.slide+xml"/>
  <ns0:Override PartName="/ppt/slideMasters/slideMaster6.xml" ContentType="application/vnd.openxmlformats-officedocument.presentationml.slideMaster+xml"/>
  <ns0:Override PartName="/ppt/slides/slide6.xml" ContentType="application/vnd.openxmlformats-officedocument.presentationml.slide+xml"/>
  <ns0:Override PartName="/ppt/slideMasters/slideMaster7.xml" ContentType="application/vnd.openxmlformats-officedocument.presentationml.slideMaster+xml"/>
  <ns0:Override PartName="/ppt/slides/slide7.xml" ContentType="application/vnd.openxmlformats-officedocument.presentationml.slide+xml"/>
  <ns0:Override PartName="/ppt/slideMasters/slideMaster8.xml" ContentType="application/vnd.openxmlformats-officedocument.presentationml.slideMaster+xml"/>
  <ns0:Override PartName="/ppt/slides/slide8.xml" ContentType="application/vnd.openxmlformats-officedocument.presentationml.slide+xml"/>
  <ns0:Override PartName="/ppt/slideMasters/slideMaster9.xml" ContentType="application/vnd.openxmlformats-officedocument.presentationml.slideMaster+xml"/>
  <ns0:Override PartName="/ppt/slides/slide9.xml" ContentType="application/vnd.openxmlformats-officedocument.presentationml.slide+xml"/>
  <ns0:Override PartName="/ppt/slideMasters/slideMaster10.xml" ContentType="application/vnd.openxmlformats-officedocument.presentationml.slideMaster+xml"/>
  <ns0:Override PartName="/ppt/slides/slide10.xml" ContentType="application/vnd.openxmlformats-officedocument.presentationml.slide+xml"/>
  <ns0:Override PartName="/ppt/slideMasters/slideMaster11.xml" ContentType="application/vnd.openxmlformats-officedocument.presentationml.slideMaster+xml"/>
  <ns0:Override PartName="/ppt/slides/slide11.xml" ContentType="application/vnd.openxmlformats-officedocument.presentationml.slide+xml"/>
  <ns0:Override PartName="/ppt/slideMasters/slideMaster12.xml" ContentType="application/vnd.openxmlformats-officedocument.presentationml.slideMaster+xml"/>
  <ns0:Override PartName="/ppt/slides/slide12.xml" ContentType="application/vnd.openxmlformats-officedocument.presentationml.slide+xml"/>
  <ns0:Override PartName="/ppt/slideMasters/slideMaster13.xml" ContentType="application/vnd.openxmlformats-officedocument.presentationml.slideMaster+xml"/>
  <ns0:Override PartName="/ppt/slides/slide13.xml" ContentType="application/vnd.openxmlformats-officedocument.presentationml.slide+xml"/>
  <ns0:Override PartName="/ppt/presProps.xml" ContentType="application/vnd.openxmlformats-officedocument.presentationml.presProps+xml"/>
  <ns0:Override PartName="/ppt/viewProps.xml" ContentType="application/vnd.openxmlformats-officedocument.presentationml.viewProps+xml"/>
  <ns0:Override PartName="/ppt/theme/theme1.xml" ContentType="application/vnd.openxmlformats-officedocument.theme+xml"/>
  <ns0:Override PartName="/ppt/tableStyles.xml" ContentType="application/vnd.openxmlformats-officedocument.presentationml.tableStyles+xml"/>
  <ns0:Override PartName="/ppt/slideLayouts/slideLayout1.xml" ContentType="application/vnd.openxmlformats-officedocument.presentationml.slideLayout+xml"/>
  <ns0:Override PartName="/ppt/notesSlides/notesSlide1.xml" ContentType="application/vnd.openxmlformats-officedocument.presentationml.notesSlide+xml"/>
  <ns0:Override PartName="/ppt/notesSlides/notesSlide2.xml" ContentType="application/vnd.openxmlformats-officedocument.presentationml.notesSlide+xml"/>
  <ns0:Override PartName="/ppt/notesSlides/notesSlide3.xml" ContentType="application/vnd.openxmlformats-officedocument.presentationml.notesSlide+xml"/>
  <ns0:Override PartName="/ppt/notesSlides/notesSlide4.xml" ContentType="application/vnd.openxmlformats-officedocument.presentationml.notesSlide+xml"/>
  <ns0:Override PartName="/ppt/notesSlides/notesSlide5.xml" ContentType="application/vnd.openxmlformats-officedocument.presentationml.notesSlide+xml"/>
  <ns0:Override PartName="/ppt/notesSlides/notesSlide6.xml" ContentType="application/vnd.openxmlformats-officedocument.presentationml.notesSlide+xml"/>
  <ns0:Override PartName="/ppt/notesSlides/notesSlide7.xml" ContentType="application/vnd.openxmlformats-officedocument.presentationml.notesSlide+xml"/>
  <ns0:Override PartName="/ppt/notesSlides/notesSlide8.xml" ContentType="application/vnd.openxmlformats-officedocument.presentationml.notesSlide+xml"/>
  <ns0:Override PartName="/ppt/notesSlides/notesSlide9.xml" ContentType="application/vnd.openxmlformats-officedocument.presentationml.notesSlide+xml"/>
  <ns0:Override PartName="/ppt/notesSlides/notesSlide10.xml" ContentType="application/vnd.openxmlformats-officedocument.presentationml.notesSlide+xml"/>
  <ns0:Override PartName="/ppt/notesSlides/notesSlide11.xml" ContentType="application/vnd.openxmlformats-officedocument.presentationml.notesSlide+xml"/>
  <ns0:Override PartName="/ppt/notesSlides/notesSlide12.xml" ContentType="application/vnd.openxmlformats-officedocument.presentationml.notesSlide+xml"/>
  <ns0:Override PartName="/ppt/notesSlides/notesSlide13.xml" ContentType="application/vnd.openxmlformats-officedocument.presentationml.notesSlide+xml"/>
  <ns0:Override PartName="/docProps/core.xml" ContentType="application/vnd.openxmlformats-package.core-properties+xml"/>
  <ns0:Override PartName="/docProps/app.xml" ContentType="application/vnd.openxmlformats-officedocument.extended-properties+xml"/>
  <ns0:Override PartName="/docProps/custom.xml" ContentType="application/vnd.openxmlformats-officedocument.custom-properties+xml"/>
</ns0: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e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e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e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jpe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e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eg"/><Relationship Id="rId2" Type="http://schemas.openxmlformats.org/officeDocument/2006/relationships/image" Target="../media/image-9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jpe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jpeg"/><Relationship Id="rId2" Type="http://schemas.openxmlformats.org/officeDocument/2006/relationships/image" Target="../media/image-12-2.png"/><Relationship Id="rId3" Type="http://schemas.openxmlformats.org/officeDocument/2006/relationships/image" Target="../media/image-12-3.png"/><Relationship Id="rId4" Type="http://schemas.openxmlformats.org/officeDocument/2006/relationships/image" Target="../media/image-1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jpe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1500188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物料设计全案呈现</a:t>
            </a:r>
            <a:endParaRPr lang="en-US" sz="3750" dirty="0"/>
          </a:p>
        </p:txBody>
      </p:sp>
      <p:sp>
        <p:nvSpPr>
          <p:cNvPr id="4" name="Text 1"/>
          <p:cNvSpPr/>
          <p:nvPr/>
        </p:nvSpPr>
        <p:spPr>
          <a:xfrm>
            <a:off x="571500" y="2243138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endParaRPr lang="en-US" sz="2250" dirty="0"/>
          </a:p>
        </p:txBody>
      </p:sp>
      <p:sp>
        <p:nvSpPr>
          <p:cNvPr id="5" name="Shape 2"/>
          <p:cNvSpPr/>
          <p:nvPr/>
        </p:nvSpPr>
        <p:spPr>
          <a:xfrm>
            <a:off x="571500" y="2976563"/>
            <a:ext cx="604838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6" name="Text 3"/>
          <p:cNvSpPr/>
          <p:nvPr/>
        </p:nvSpPr>
        <p:spPr>
          <a:xfrm>
            <a:off x="571500" y="3424238"/>
            <a:ext cx="8001000" cy="2190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725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295275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3433763"/>
            <a:ext cx="1857375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content</a:t>
            </a:r>
            <a:endParaRPr lang="en-US" sz="3750" dirty="0"/>
          </a:p>
        </p:txBody>
      </p:sp>
      <p:sp>
        <p:nvSpPr>
          <p:cNvPr id="5" name="Text 2"/>
          <p:cNvSpPr/>
          <p:nvPr/>
        </p:nvSpPr>
        <p:spPr>
          <a:xfrm>
            <a:off x="571500" y="4176713"/>
            <a:ext cx="180975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目录</a:t>
            </a:r>
            <a:endParaRPr lang="en-US" sz="2250" dirty="0"/>
          </a:p>
        </p:txBody>
      </p:sp>
      <p:sp>
        <p:nvSpPr>
          <p:cNvPr id="6" name="Text 3"/>
          <p:cNvSpPr/>
          <p:nvPr/>
        </p:nvSpPr>
        <p:spPr>
          <a:xfrm>
            <a:off x="3524250" y="193119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543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75" dirty="0"/>
          </a:p>
        </p:txBody>
      </p:sp>
      <p:sp>
        <p:nvSpPr>
          <p:cNvPr id="7" name="Text 4"/>
          <p:cNvSpPr/>
          <p:nvPr/>
        </p:nvSpPr>
        <p:spPr>
          <a:xfrm>
            <a:off x="3990975" y="20026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视觉传播物料的设计逻辑与执行方案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990975" y="22502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3524250" y="2559844"/>
            <a:ext cx="352425" cy="33337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038"/>
              </a:lnSpc>
              <a:buNone/>
            </a:pPr>
            <a:r>
              <a:rPr lang="en-US" sz="1875" b="1" dirty="0">
                <a:solidFill>
                  <a:srgbClr val="543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75" dirty="0"/>
          </a:p>
        </p:txBody>
      </p:sp>
      <p:sp>
        <p:nvSpPr>
          <p:cNvPr id="10" name="Text 7"/>
          <p:cNvSpPr/>
          <p:nvPr/>
        </p:nvSpPr>
        <p:spPr>
          <a:xfrm>
            <a:off x="3990975" y="263128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内容型物料的结构化创作与运营赋能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3990975" y="2878931"/>
            <a:ext cx="4581525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视觉传播物料的设计逻辑与执行方案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25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9302" r="9302" t="0" b="0"/>
          <a:stretch/>
        </p:blipFill>
        <p:spPr>
          <a:xfrm>
            <a:off x="0" y="0"/>
            <a:ext cx="9144000" cy="16383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基于品牌调性的线上海报设计语言构建，实现信息高效传达与视觉吸引力平衡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847850"/>
            <a:ext cx="2085975" cy="29670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品牌基因解码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919412"/>
            <a:ext cx="1381125" cy="15049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深入分析品牌的核心价值、目标受众与视觉识别系统，提炼出专属的设计语言。将品牌色、字体与图形风格融入海报，确保传播的一致性与辨识度。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2486025" y="1847850"/>
            <a:ext cx="2085975" cy="29670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838450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信息层级优化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838450" y="2919412"/>
            <a:ext cx="138112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通过字体大小、色彩对比与空间留白构建清晰的阅读动线。优先突出核心诉求，平衡文案密度与视觉呼吸感，提升信息获取效率。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4572000" y="1847850"/>
            <a:ext cx="2085975" cy="29670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924425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情绪视觉转化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924425" y="2919412"/>
            <a:ext cx="138112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依据传播场景匹配视觉情绪，如节日用暖色调营造氛围，科普类采用简约设计传递专业感。借助图像与色彩激发用户情感共鸣。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0" b="0"/>
          <a:stretch/>
        </p:blipFill>
        <p:spPr>
          <a:xfrm>
            <a:off x="6657975" y="1847850"/>
            <a:ext cx="2085975" cy="2967038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7010400" y="2628900"/>
            <a:ext cx="138112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AI工具增效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7010400" y="2919412"/>
            <a:ext cx="1381125" cy="12954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利用Canva、小墨鹰等AI设计工具快速生成初稿，实现模板化批量产出。智能配色与排版建议提升设计效率，保障多场景输出一致性。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89597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线下海报的主题分层与情绪节奏规划，强化用户阶段性认知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4276725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3914775" y="1885950"/>
            <a:ext cx="131445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海报叙事策略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6762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认知建立层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876300" y="3457575"/>
            <a:ext cx="10096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前两张海报构建品牌初步印象，传递核心识别元素。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876300" y="43338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通过低饱和色彩与静态构图引发用户好奇关注。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876300" y="50006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统一视觉锚点帮助用户快速识别品牌来源。</a:t>
            </a:r>
            <a:endParaRPr lang="en-US" sz="1050" dirty="0"/>
          </a:p>
        </p:txBody>
      </p:sp>
      <p:sp>
        <p:nvSpPr>
          <p:cNvPr id="12" name="Text 8"/>
          <p:cNvSpPr/>
          <p:nvPr/>
        </p:nvSpPr>
        <p:spPr>
          <a:xfrm>
            <a:off x="20097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情感深化层</a:t>
            </a:r>
            <a:endParaRPr lang="en-US" sz="1200" dirty="0"/>
          </a:p>
        </p:txBody>
      </p:sp>
      <p:sp>
        <p:nvSpPr>
          <p:cNvPr id="13" name="Text 9"/>
          <p:cNvSpPr/>
          <p:nvPr/>
        </p:nvSpPr>
        <p:spPr>
          <a:xfrm>
            <a:off x="22098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中间三张逐步增强画面动态感，推动情绪升温。</a:t>
            </a:r>
            <a:endParaRPr lang="en-US" sz="1050" dirty="0"/>
          </a:p>
        </p:txBody>
      </p:sp>
      <p:sp>
        <p:nvSpPr>
          <p:cNvPr id="14" name="Text 10"/>
          <p:cNvSpPr/>
          <p:nvPr/>
        </p:nvSpPr>
        <p:spPr>
          <a:xfrm>
            <a:off x="2209800" y="41243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色彩饱和度渐进提升，强化情感共鸣强度。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2209800" y="4791075"/>
            <a:ext cx="10096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内容聚焦用户场景，拉近品牌与个体的心理距离。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33432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行动转化层</a:t>
            </a:r>
            <a:endParaRPr lang="en-US" sz="1200" dirty="0"/>
          </a:p>
        </p:txBody>
      </p:sp>
      <p:sp>
        <p:nvSpPr>
          <p:cNvPr id="17" name="Text 13"/>
          <p:cNvSpPr/>
          <p:nvPr/>
        </p:nvSpPr>
        <p:spPr>
          <a:xfrm>
            <a:off x="35433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后两张海报设置明确行动引导，促进参与转化。</a:t>
            </a:r>
            <a:endParaRPr lang="en-US" sz="1050" dirty="0"/>
          </a:p>
        </p:txBody>
      </p:sp>
      <p:sp>
        <p:nvSpPr>
          <p:cNvPr id="18" name="Text 14"/>
          <p:cNvSpPr/>
          <p:nvPr/>
        </p:nvSpPr>
        <p:spPr>
          <a:xfrm>
            <a:off x="3543300" y="41243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高动态构图与强视觉冲击激发即时响应欲望。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46767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情绪曲线设计</a:t>
            </a:r>
            <a:endParaRPr lang="en-US" sz="1200" dirty="0"/>
          </a:p>
        </p:txBody>
      </p:sp>
      <p:sp>
        <p:nvSpPr>
          <p:cNvPr id="20" name="Text 16"/>
          <p:cNvSpPr/>
          <p:nvPr/>
        </p:nvSpPr>
        <p:spPr>
          <a:xfrm>
            <a:off x="48768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从静到动的视觉节奏，匹配用户心理递进过程。</a:t>
            </a:r>
            <a:endParaRPr lang="en-US" sz="1050" dirty="0"/>
          </a:p>
        </p:txBody>
      </p:sp>
      <p:sp>
        <p:nvSpPr>
          <p:cNvPr id="21" name="Text 17"/>
          <p:cNvSpPr/>
          <p:nvPr/>
        </p:nvSpPr>
        <p:spPr>
          <a:xfrm>
            <a:off x="4876800" y="41243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情绪由好奇→共鸣→参与，形成自然过渡路径。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4876800" y="47910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动态变化增强内容吸引力，延长用户停留时间。</a:t>
            </a:r>
            <a:endParaRPr lang="en-US" sz="1050" dirty="0"/>
          </a:p>
        </p:txBody>
      </p:sp>
      <p:sp>
        <p:nvSpPr>
          <p:cNvPr id="23" name="Text 19"/>
          <p:cNvSpPr/>
          <p:nvPr/>
        </p:nvSpPr>
        <p:spPr>
          <a:xfrm>
            <a:off x="60102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记忆关联强化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2103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每张海报保留统一视觉锚点，加深品牌印象。</a:t>
            </a:r>
            <a:endParaRPr lang="en-US" sz="1050" dirty="0"/>
          </a:p>
        </p:txBody>
      </p:sp>
      <p:sp>
        <p:nvSpPr>
          <p:cNvPr id="25" name="Text 21"/>
          <p:cNvSpPr/>
          <p:nvPr/>
        </p:nvSpPr>
        <p:spPr>
          <a:xfrm>
            <a:off x="6210300" y="412432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信息渐进释放，避免认知过载并提升留存效率。</a:t>
            </a:r>
            <a:endParaRPr lang="en-US" sz="1050" dirty="0"/>
          </a:p>
        </p:txBody>
      </p:sp>
      <p:sp>
        <p:nvSpPr>
          <p:cNvPr id="26" name="Text 22"/>
          <p:cNvSpPr/>
          <p:nvPr/>
        </p:nvSpPr>
        <p:spPr>
          <a:xfrm>
            <a:off x="7343775" y="3128962"/>
            <a:ext cx="1104900" cy="247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200"/>
              </a:lnSpc>
              <a:buNone/>
            </a:pPr>
            <a:r>
              <a:rPr lang="en-US" sz="120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传播闭环构建</a:t>
            </a:r>
            <a:endParaRPr lang="en-US" sz="1200" dirty="0"/>
          </a:p>
        </p:txBody>
      </p:sp>
      <p:sp>
        <p:nvSpPr>
          <p:cNvPr id="27" name="Text 23"/>
          <p:cNvSpPr/>
          <p:nvPr/>
        </p:nvSpPr>
        <p:spPr>
          <a:xfrm>
            <a:off x="7543800" y="3457575"/>
            <a:ext cx="100965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启承转合结构覆盖用户全旅程触点。</a:t>
            </a:r>
            <a:endParaRPr lang="en-US" sz="1050" dirty="0"/>
          </a:p>
        </p:txBody>
      </p:sp>
      <p:sp>
        <p:nvSpPr>
          <p:cNvPr id="28" name="Text 24"/>
          <p:cNvSpPr/>
          <p:nvPr/>
        </p:nvSpPr>
        <p:spPr>
          <a:xfrm>
            <a:off x="7543800" y="4124325"/>
            <a:ext cx="1009650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各阶段目标明确，协同实现认知到转化的闭环。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线上海报的延展性布局与场景适配策略，覆盖多元传播触点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8333" b="8333"/>
          <a:stretch/>
        </p:blipFill>
        <p:spPr>
          <a:xfrm>
            <a:off x="571500" y="1428750"/>
            <a:ext cx="1714500" cy="14287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6667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统一视觉基因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666750" y="3295650"/>
            <a:ext cx="1524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建立核心视觉符号库，如主色、字体与图形元素，确保10张海报在不同场景下保持品牌一致性。通过标准化设计组件提升多图协同的识别度。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8333" b="8333"/>
          <a:stretch/>
        </p:blipFill>
        <p:spPr>
          <a:xfrm>
            <a:off x="2667000" y="1428750"/>
            <a:ext cx="1714500" cy="14287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27622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分层信息架构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2762250" y="3295650"/>
            <a:ext cx="1524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根据传播目标拆解内容层级，主视觉突出核心信息，辅助文案适配平台特性。确保关键消息在多尺寸与媒介中清晰可读、快速传达。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8333" b="8333"/>
          <a:stretch/>
        </p:blipFill>
        <p:spPr>
          <a:xfrm>
            <a:off x="4762500" y="1428750"/>
            <a:ext cx="1714500" cy="14287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48577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多场景适配策略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4857750" y="3295650"/>
            <a:ext cx="1524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针对朋友圈、公众号、社群等触点优化构图比例与阅读动线，适配移动端浏览习惯。动态调整图文权重以匹配不同用户行为场景。</a:t>
            </a:r>
            <a:endParaRPr lang="en-US" sz="1050" dirty="0"/>
          </a:p>
        </p:txBody>
      </p:sp>
      <p:pic>
        <p:nvPicPr>
          <p:cNvPr id="15" name="Image 4" descr="preencoded.png">    </p:cNvPr>
          <p:cNvPicPr>
            <a:picLocks noChangeAspect="1"/>
          </p:cNvPicPr>
          <p:nvPr/>
        </p:nvPicPr>
        <p:blipFill>
          <a:blip r:embed="rId5"/>
          <a:srcRect l="0" r="0" t="8333" b="8333"/>
          <a:stretch/>
        </p:blipFill>
        <p:spPr>
          <a:xfrm>
            <a:off x="6858000" y="1428750"/>
            <a:ext cx="1714500" cy="1428750"/>
          </a:xfrm>
          <a:prstGeom prst="rect">
            <a:avLst/>
          </a:prstGeom>
        </p:spPr>
      </p:pic>
      <p:sp>
        <p:nvSpPr>
          <p:cNvPr id="16" name="Text 9"/>
          <p:cNvSpPr/>
          <p:nvPr/>
        </p:nvSpPr>
        <p:spPr>
          <a:xfrm>
            <a:off x="6953250" y="3048000"/>
            <a:ext cx="1524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模块化延展设计</a:t>
            </a:r>
            <a:endParaRPr lang="en-US" sz="1200" dirty="0"/>
          </a:p>
        </p:txBody>
      </p:sp>
      <p:sp>
        <p:nvSpPr>
          <p:cNvPr id="17" name="Text 10"/>
          <p:cNvSpPr/>
          <p:nvPr/>
        </p:nvSpPr>
        <p:spPr>
          <a:xfrm>
            <a:off x="6953250" y="3295650"/>
            <a:ext cx="15240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采用可替换模块设计，如标题区、产品图与CTA按钮，实现主题统一下的灵活变体。大幅提升系列海报的生产效率与风格连贯性。</a:t>
            </a:r>
            <a:endParaRPr lang="en-US" sz="10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8001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通过色彩体系、构图规律与AI工具协同提升海报产出效率与一致性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114300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828800"/>
            <a:ext cx="8382000" cy="30670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1198215" y="276701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350" dirty="0"/>
          </a:p>
        </p:txBody>
      </p:sp>
      <p:sp>
        <p:nvSpPr>
          <p:cNvPr id="8" name="Text 4"/>
          <p:cNvSpPr/>
          <p:nvPr/>
        </p:nvSpPr>
        <p:spPr>
          <a:xfrm>
            <a:off x="780752" y="3995738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构建色彩体系</a:t>
            </a:r>
            <a:endParaRPr lang="en-US" sz="1200" dirty="0"/>
          </a:p>
        </p:txBody>
      </p:sp>
      <p:sp>
        <p:nvSpPr>
          <p:cNvPr id="9" name="Text 5"/>
          <p:cNvSpPr/>
          <p:nvPr/>
        </p:nvSpPr>
        <p:spPr>
          <a:xfrm>
            <a:off x="304502" y="4248150"/>
            <a:ext cx="216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建立品牌专属的色彩规范，统一视觉语言，增强识别度。</a:t>
            </a:r>
            <a:endParaRPr lang="en-US" sz="1050" dirty="0"/>
          </a:p>
        </p:txBody>
      </p:sp>
      <p:sp>
        <p:nvSpPr>
          <p:cNvPr id="10" name="Text 6"/>
          <p:cNvSpPr/>
          <p:nvPr/>
        </p:nvSpPr>
        <p:spPr>
          <a:xfrm>
            <a:off x="2452390" y="352901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350" dirty="0"/>
          </a:p>
        </p:txBody>
      </p:sp>
      <p:sp>
        <p:nvSpPr>
          <p:cNvPr id="11" name="Text 7"/>
          <p:cNvSpPr/>
          <p:nvPr/>
        </p:nvSpPr>
        <p:spPr>
          <a:xfrm>
            <a:off x="2034927" y="1866900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规范构图标准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1558677" y="2119313"/>
            <a:ext cx="216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定义布局结构与视觉动线，确保设计一致性。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3706564" y="276701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350" dirty="0"/>
          </a:p>
        </p:txBody>
      </p:sp>
      <p:sp>
        <p:nvSpPr>
          <p:cNvPr id="14" name="Text 10"/>
          <p:cNvSpPr/>
          <p:nvPr/>
        </p:nvSpPr>
        <p:spPr>
          <a:xfrm>
            <a:off x="3289102" y="3995738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集成AI生图</a:t>
            </a:r>
            <a:endParaRPr lang="en-US" sz="1200" dirty="0"/>
          </a:p>
        </p:txBody>
      </p:sp>
      <p:sp>
        <p:nvSpPr>
          <p:cNvPr id="15" name="Text 11"/>
          <p:cNvSpPr/>
          <p:nvPr/>
        </p:nvSpPr>
        <p:spPr>
          <a:xfrm>
            <a:off x="2812852" y="4248150"/>
            <a:ext cx="216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利用AI生成图像内容，提升创意效率与产出速度。</a:t>
            </a:r>
            <a:endParaRPr lang="en-US" sz="1050" dirty="0"/>
          </a:p>
        </p:txBody>
      </p:sp>
      <p:sp>
        <p:nvSpPr>
          <p:cNvPr id="16" name="Text 12"/>
          <p:cNvSpPr/>
          <p:nvPr/>
        </p:nvSpPr>
        <p:spPr>
          <a:xfrm>
            <a:off x="4960739" y="352901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350" dirty="0"/>
          </a:p>
        </p:txBody>
      </p:sp>
      <p:sp>
        <p:nvSpPr>
          <p:cNvPr id="17" name="Text 13"/>
          <p:cNvSpPr/>
          <p:nvPr/>
        </p:nvSpPr>
        <p:spPr>
          <a:xfrm>
            <a:off x="4543276" y="1866900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智能排版应用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4067026" y="2119313"/>
            <a:ext cx="216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自动匹配文本与图形布局，减少手动调整。</a:t>
            </a:r>
            <a:endParaRPr lang="en-US" sz="1050" dirty="0"/>
          </a:p>
        </p:txBody>
      </p:sp>
      <p:sp>
        <p:nvSpPr>
          <p:cNvPr id="19" name="Text 15"/>
          <p:cNvSpPr/>
          <p:nvPr/>
        </p:nvSpPr>
        <p:spPr>
          <a:xfrm>
            <a:off x="6214914" y="276701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615CED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350" dirty="0"/>
          </a:p>
        </p:txBody>
      </p:sp>
      <p:sp>
        <p:nvSpPr>
          <p:cNvPr id="20" name="Text 16"/>
          <p:cNvSpPr/>
          <p:nvPr/>
        </p:nvSpPr>
        <p:spPr>
          <a:xfrm>
            <a:off x="5797451" y="3995738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模板化工具库</a:t>
            </a:r>
            <a:endParaRPr lang="en-US" sz="1200" dirty="0"/>
          </a:p>
        </p:txBody>
      </p:sp>
      <p:sp>
        <p:nvSpPr>
          <p:cNvPr id="21" name="Text 17"/>
          <p:cNvSpPr/>
          <p:nvPr/>
        </p:nvSpPr>
        <p:spPr>
          <a:xfrm>
            <a:off x="5321201" y="4248150"/>
            <a:ext cx="216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封装规则为可复用模板，支持快速批量创作。</a:t>
            </a:r>
            <a:endParaRPr lang="en-US" sz="1050" dirty="0"/>
          </a:p>
        </p:txBody>
      </p:sp>
      <p:sp>
        <p:nvSpPr>
          <p:cNvPr id="22" name="Text 18"/>
          <p:cNvSpPr/>
          <p:nvPr/>
        </p:nvSpPr>
        <p:spPr>
          <a:xfrm>
            <a:off x="7469088" y="3529013"/>
            <a:ext cx="381000" cy="276225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350"/>
              </a:lnSpc>
              <a:buNone/>
            </a:pPr>
            <a:r>
              <a:rPr lang="en-US" sz="1350" b="1" dirty="0">
                <a:solidFill>
                  <a:srgbClr val="5BB1E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350" dirty="0"/>
          </a:p>
        </p:txBody>
      </p:sp>
      <p:sp>
        <p:nvSpPr>
          <p:cNvPr id="23" name="Text 19"/>
          <p:cNvSpPr/>
          <p:nvPr/>
        </p:nvSpPr>
        <p:spPr>
          <a:xfrm>
            <a:off x="7051625" y="1866900"/>
            <a:ext cx="1216075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降低设计门槛</a:t>
            </a:r>
            <a:endParaRPr lang="en-US" sz="1200" dirty="0"/>
          </a:p>
        </p:txBody>
      </p:sp>
      <p:sp>
        <p:nvSpPr>
          <p:cNvPr id="24" name="Text 20"/>
          <p:cNvSpPr/>
          <p:nvPr/>
        </p:nvSpPr>
        <p:spPr>
          <a:xfrm>
            <a:off x="6575375" y="2119313"/>
            <a:ext cx="21685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赋能非专业成员高效输出，保障品牌视觉统一。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647950"/>
            <a:ext cx="4762500" cy="1333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内容型物料的结构化创作与运营赋能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4157662"/>
            <a:ext cx="4762500" cy="14288"/>
          </a:xfrm>
          <a:prstGeom prst="rect">
            <a:avLst/>
          </a:prstGeom>
          <a:solidFill>
            <a:srgbClr val="FFFFFF">
              <a:alpha val="30000"/>
            </a:srgbClr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4362450"/>
            <a:ext cx="4762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19725" y="3009900"/>
            <a:ext cx="3729038" cy="2857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22500"/>
              </a:lnSpc>
              <a:buNone/>
            </a:pPr>
            <a:r>
              <a:rPr lang="en-US" sz="22500" b="1" dirty="0">
                <a:solidFill>
                  <a:srgbClr val="FFFFFF">
                    <a:alpha val="70000"/>
                  </a:srgbClr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2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公众号推文的内容架构设计，融合热点洞察与用户阅读心理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381000" y="1428750"/>
            <a:ext cx="8382000" cy="294798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95313" y="341947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整合热点话题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95313" y="3671888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聚合微博、百度等平台的实时热搜，筛选与品牌高度相关的内容，提升传播的时效性与关联度。</a:t>
            </a:r>
            <a:endParaRPr lang="en-US" sz="1050" dirty="0"/>
          </a:p>
        </p:txBody>
      </p:sp>
      <p:sp>
        <p:nvSpPr>
          <p:cNvPr id="9" name="Text 5"/>
          <p:cNvSpPr/>
          <p:nvPr/>
        </p:nvSpPr>
        <p:spPr>
          <a:xfrm>
            <a:off x="595313" y="24431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激发情感共鸣</a:t>
            </a:r>
            <a:endParaRPr lang="en-US" sz="1200" dirty="0"/>
          </a:p>
        </p:txBody>
      </p:sp>
      <p:sp>
        <p:nvSpPr>
          <p:cNvPr id="10" name="Text 6"/>
          <p:cNvSpPr/>
          <p:nvPr/>
        </p:nvSpPr>
        <p:spPr>
          <a:xfrm>
            <a:off x="595313" y="2695575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结合用户在不同场景下的情绪需求，运用共鸣式叙事增强情感认同，提高内容的阅读黏性与分享意愿。</a:t>
            </a:r>
            <a:endParaRPr lang="en-US" sz="1050" dirty="0"/>
          </a:p>
        </p:txBody>
      </p:sp>
      <p:sp>
        <p:nvSpPr>
          <p:cNvPr id="11" name="Text 7"/>
          <p:cNvSpPr/>
          <p:nvPr/>
        </p:nvSpPr>
        <p:spPr>
          <a:xfrm>
            <a:off x="595313" y="14668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结构化内容设计</a:t>
            </a:r>
            <a:endParaRPr lang="en-US" sz="1200" dirty="0"/>
          </a:p>
        </p:txBody>
      </p:sp>
      <p:sp>
        <p:nvSpPr>
          <p:cNvPr id="12" name="Text 8"/>
          <p:cNvSpPr/>
          <p:nvPr/>
        </p:nvSpPr>
        <p:spPr>
          <a:xfrm>
            <a:off x="595313" y="1719263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采用标题—痛点引入—案例解析—价值升华的四段式结构，确保逻辑清晰，帮助读者高效获取核心信息。</a:t>
            </a:r>
            <a:endParaRPr lang="en-US" sz="1050" dirty="0"/>
          </a:p>
        </p:txBody>
      </p:sp>
      <p:sp>
        <p:nvSpPr>
          <p:cNvPr id="13" name="Text 9"/>
          <p:cNvSpPr/>
          <p:nvPr/>
        </p:nvSpPr>
        <p:spPr>
          <a:xfrm>
            <a:off x="6186488" y="1466850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规划主题矩阵</a:t>
            </a:r>
            <a:endParaRPr lang="en-US" sz="1200" dirty="0"/>
          </a:p>
        </p:txBody>
      </p:sp>
      <p:sp>
        <p:nvSpPr>
          <p:cNvPr id="14" name="Text 10"/>
          <p:cNvSpPr/>
          <p:nvPr/>
        </p:nvSpPr>
        <p:spPr>
          <a:xfrm>
            <a:off x="6186488" y="1719263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围绕认知启蒙、情感连接、专业赋能、行动引导四大主题布局系列推文，构建完整的内容转化路径。</a:t>
            </a:r>
            <a:endParaRPr lang="en-US" sz="1050" dirty="0"/>
          </a:p>
        </p:txBody>
      </p:sp>
      <p:sp>
        <p:nvSpPr>
          <p:cNvPr id="15" name="Text 11"/>
          <p:cNvSpPr/>
          <p:nvPr/>
        </p:nvSpPr>
        <p:spPr>
          <a:xfrm>
            <a:off x="6186488" y="2443163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强化品牌调性</a:t>
            </a:r>
            <a:endParaRPr lang="en-US" sz="1200" dirty="0"/>
          </a:p>
        </p:txBody>
      </p:sp>
      <p:sp>
        <p:nvSpPr>
          <p:cNvPr id="16" name="Text 12"/>
          <p:cNvSpPr/>
          <p:nvPr/>
        </p:nvSpPr>
        <p:spPr>
          <a:xfrm>
            <a:off x="6186488" y="2695575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统一视觉风格与文案语调，在多样化选题中保持品牌形象的一致性，持续提升识别度与用户信任。</a:t>
            </a:r>
            <a:endParaRPr lang="en-US" sz="1050" dirty="0"/>
          </a:p>
        </p:txBody>
      </p:sp>
      <p:sp>
        <p:nvSpPr>
          <p:cNvPr id="17" name="Text 13"/>
          <p:cNvSpPr/>
          <p:nvPr/>
        </p:nvSpPr>
        <p:spPr>
          <a:xfrm>
            <a:off x="6186488" y="3419475"/>
            <a:ext cx="2362200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构建内容闭环</a:t>
            </a:r>
            <a:endParaRPr lang="en-US" sz="1200" dirty="0"/>
          </a:p>
        </p:txBody>
      </p:sp>
      <p:sp>
        <p:nvSpPr>
          <p:cNvPr id="18" name="Text 14"/>
          <p:cNvSpPr/>
          <p:nvPr/>
        </p:nvSpPr>
        <p:spPr>
          <a:xfrm>
            <a:off x="6186488" y="3671888"/>
            <a:ext cx="23622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从吸引关注到促进转化，通过系统化内容策略实现用户认知、情感、行为的递进式引导。</a:t>
            </a:r>
            <a:endParaRPr lang="en-US" sz="10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以模板化思维实现推文排版的专业感与品牌识别度统一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1539875" y="2000250"/>
            <a:ext cx="476250" cy="47625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571500" y="25908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模板即品牌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571500" y="2838450"/>
            <a:ext cx="2413000" cy="8382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统一的排版模板是品牌视觉识别的重要组成部分。通过固化字体、配色与模块结构，确保每篇推文都传递一致的专业形象与品牌调性。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4333875" y="2000250"/>
            <a:ext cx="476250" cy="476250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365500" y="25908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效率与规范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365500" y="283845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模板化大幅降低排版决策成本，提升内容生产效率。同时建立团队协作标准，保证多人编辑下风格统一、输出稳定。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7127875" y="2000250"/>
            <a:ext cx="476250" cy="476250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159500" y="2590800"/>
            <a:ext cx="2413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灵活可延展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159500" y="2838450"/>
            <a:ext cx="2413000" cy="6286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ctr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优质模板兼顾标准化与灵活性，支持按主题微调样式与色彩。既能快速套用，又能适配节日、热点等多样化传播场景。</a:t>
            </a:r>
            <a:endParaRPr lang="en-US" sz="10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267325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借助AI排版与智能生图技术缩短内容生产链路，提升迭代速度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sp>
        <p:nvSpPr>
          <p:cNvPr id="6" name="Text 3"/>
          <p:cNvSpPr/>
          <p:nvPr/>
        </p:nvSpPr>
        <p:spPr>
          <a:xfrm>
            <a:off x="571500" y="14287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543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571500" y="1757362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智能排版提效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571500" y="2005013"/>
            <a:ext cx="1714500" cy="1257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借助小墨鹰等编辑器的AI快排功能，可一键将文案套用至专业模板，自动完成格式匹配与样式统一。大幅缩短排版耗时，提升内容生产效率达70%以上。</a:t>
            </a:r>
            <a:endParaRPr lang="en-US" sz="1050" dirty="0"/>
          </a:p>
        </p:txBody>
      </p:sp>
      <p:sp>
        <p:nvSpPr>
          <p:cNvPr id="9" name="Text 6"/>
          <p:cNvSpPr/>
          <p:nvPr/>
        </p:nvSpPr>
        <p:spPr>
          <a:xfrm>
            <a:off x="2667000" y="14287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543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2667000" y="1757362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热点实时追踪</a:t>
            </a:r>
            <a:endParaRPr lang="en-US" sz="1200" dirty="0"/>
          </a:p>
        </p:txBody>
      </p:sp>
      <p:sp>
        <p:nvSpPr>
          <p:cNvPr id="11" name="Text 8"/>
          <p:cNvSpPr/>
          <p:nvPr/>
        </p:nvSpPr>
        <p:spPr>
          <a:xfrm>
            <a:off x="2667000" y="2005013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通过壹伴助手实时同步微博、知乎、百度等平台热点榜单，延迟不超过1分钟。帮助运营者快速捕捉流量风口，抢占内容发布先机。</a:t>
            </a:r>
            <a:endParaRPr lang="en-US" sz="1050" dirty="0"/>
          </a:p>
        </p:txBody>
      </p:sp>
      <p:sp>
        <p:nvSpPr>
          <p:cNvPr id="12" name="Text 9"/>
          <p:cNvSpPr/>
          <p:nvPr/>
        </p:nvSpPr>
        <p:spPr>
          <a:xfrm>
            <a:off x="4762500" y="14287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543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13" name="Text 10"/>
          <p:cNvSpPr/>
          <p:nvPr/>
        </p:nvSpPr>
        <p:spPr>
          <a:xfrm>
            <a:off x="4762500" y="1757362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AI生图降本</a:t>
            </a:r>
            <a:endParaRPr lang="en-US" sz="1200" dirty="0"/>
          </a:p>
        </p:txBody>
      </p:sp>
      <p:sp>
        <p:nvSpPr>
          <p:cNvPr id="14" name="Text 11"/>
          <p:cNvSpPr/>
          <p:nvPr/>
        </p:nvSpPr>
        <p:spPr>
          <a:xfrm>
            <a:off x="4762500" y="2005013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利用Canva可画、小墨鹰等工具的AI生图功能，输入关键词即可生成高质配图，无需摄影师或设计师。有效降低素材制作成本与版权风险。</a:t>
            </a:r>
            <a:endParaRPr lang="en-US" sz="1050" dirty="0"/>
          </a:p>
        </p:txBody>
      </p:sp>
      <p:sp>
        <p:nvSpPr>
          <p:cNvPr id="15" name="Text 12"/>
          <p:cNvSpPr/>
          <p:nvPr/>
        </p:nvSpPr>
        <p:spPr>
          <a:xfrm>
            <a:off x="6858000" y="1428750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543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16" name="Text 13"/>
          <p:cNvSpPr/>
          <p:nvPr/>
        </p:nvSpPr>
        <p:spPr>
          <a:xfrm>
            <a:off x="6858000" y="1757362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模板复用增效</a:t>
            </a:r>
            <a:endParaRPr lang="en-US" sz="1200" dirty="0"/>
          </a:p>
        </p:txBody>
      </p:sp>
      <p:sp>
        <p:nvSpPr>
          <p:cNvPr id="17" name="Text 14"/>
          <p:cNvSpPr/>
          <p:nvPr/>
        </p:nvSpPr>
        <p:spPr>
          <a:xfrm>
            <a:off x="6858000" y="2005013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建立品牌专属模板库，覆盖节日、活动、科普等场景，支持一键调用与批量更新。确保风格统一的同时，显著加快内容迭代速度。</a:t>
            </a:r>
            <a:endParaRPr lang="en-US" sz="1050" dirty="0"/>
          </a:p>
        </p:txBody>
      </p:sp>
      <p:sp>
        <p:nvSpPr>
          <p:cNvPr id="18" name="Text 15"/>
          <p:cNvSpPr/>
          <p:nvPr/>
        </p:nvSpPr>
        <p:spPr>
          <a:xfrm>
            <a:off x="571500" y="3452813"/>
            <a:ext cx="1714500" cy="214312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5438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200" dirty="0"/>
          </a:p>
        </p:txBody>
      </p:sp>
      <p:sp>
        <p:nvSpPr>
          <p:cNvPr id="19" name="Text 16"/>
          <p:cNvSpPr/>
          <p:nvPr/>
        </p:nvSpPr>
        <p:spPr>
          <a:xfrm>
            <a:off x="571500" y="3781425"/>
            <a:ext cx="17145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多端协同发布</a:t>
            </a:r>
            <a:endParaRPr lang="en-US" sz="1200" dirty="0"/>
          </a:p>
        </p:txBody>
      </p:sp>
      <p:sp>
        <p:nvSpPr>
          <p:cNvPr id="20" name="Text 17"/>
          <p:cNvSpPr/>
          <p:nvPr/>
        </p:nvSpPr>
        <p:spPr>
          <a:xfrm>
            <a:off x="571500" y="4029075"/>
            <a:ext cx="1714500" cy="1047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AI工具支持PC与手机端同步编辑，并可导出长图、PDF等多种格式，便于团队协作与跨平台分发。实现从创作到传播的全链路提效。</a:t>
            </a:r>
            <a:endParaRPr lang="en-US" sz="10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3571" b="3571"/>
          <a:stretch/>
        </p:blipFill>
        <p:spPr>
          <a:xfrm>
            <a:off x="0" y="0"/>
            <a:ext cx="9144000" cy="123825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571500" y="285750"/>
            <a:ext cx="8001000" cy="4000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3150"/>
              </a:lnSpc>
              <a:buNone/>
            </a:pPr>
            <a:r>
              <a:rPr lang="en-US" sz="22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从单篇爆文到系列内容联动，构建可持续的内容传播生态</a:t>
            </a:r>
            <a:endParaRPr lang="en-US" sz="2250" dirty="0"/>
          </a:p>
        </p:txBody>
      </p:sp>
      <p:sp>
        <p:nvSpPr>
          <p:cNvPr id="5" name="Text 2"/>
          <p:cNvSpPr/>
          <p:nvPr/>
        </p:nvSpPr>
        <p:spPr>
          <a:xfrm>
            <a:off x="571500" y="742950"/>
            <a:ext cx="8001000" cy="2095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endParaRPr lang="en-US" sz="1200" dirty="0"/>
          </a:p>
        </p:txBody>
      </p:sp>
      <p:pic>
        <p:nvPicPr>
          <p:cNvPr id="6" name="Image 1" descr="preencoded.png">    </p:cNvPr>
          <p:cNvPicPr>
            <a:picLocks noChangeAspect="1"/>
          </p:cNvPicPr>
          <p:nvPr/>
        </p:nvPicPr>
        <p:blipFill>
          <a:blip r:embed="rId2"/>
          <a:srcRect l="0" r="0" t="0" b="0"/>
          <a:stretch/>
        </p:blipFill>
        <p:spPr>
          <a:xfrm>
            <a:off x="400050" y="1447800"/>
            <a:ext cx="2781151" cy="2547938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752475" y="2228850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爆文基因拆解</a:t>
            </a:r>
            <a:endParaRPr lang="en-US" sz="1200" dirty="0"/>
          </a:p>
        </p:txBody>
      </p:sp>
      <p:sp>
        <p:nvSpPr>
          <p:cNvPr id="8" name="Text 4"/>
          <p:cNvSpPr/>
          <p:nvPr/>
        </p:nvSpPr>
        <p:spPr>
          <a:xfrm>
            <a:off x="752475" y="2519363"/>
            <a:ext cx="2076301" cy="10858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分析高传播推文的共性，提炼选题、标题与情绪触发点。结合热点与用户痛点，打造兼具时效性与共鸣感的内容范式，为系列化创作提供基准模板。</a:t>
            </a:r>
            <a:endParaRPr lang="en-US" sz="1050" dirty="0"/>
          </a:p>
        </p:txBody>
      </p:sp>
      <p:pic>
        <p:nvPicPr>
          <p:cNvPr id="9" name="Image 2" descr="preencoded.png">    </p:cNvPr>
          <p:cNvPicPr>
            <a:picLocks noChangeAspect="1"/>
          </p:cNvPicPr>
          <p:nvPr/>
        </p:nvPicPr>
        <p:blipFill>
          <a:blip r:embed="rId3"/>
          <a:srcRect l="0" r="0" t="0" b="0"/>
          <a:stretch/>
        </p:blipFill>
        <p:spPr>
          <a:xfrm>
            <a:off x="3181201" y="1447800"/>
            <a:ext cx="2781151" cy="2547938"/>
          </a:xfrm>
          <a:prstGeom prst="rect">
            <a:avLst/>
          </a:prstGeom>
        </p:spPr>
      </p:pic>
      <p:sp>
        <p:nvSpPr>
          <p:cNvPr id="10" name="Text 5"/>
          <p:cNvSpPr/>
          <p:nvPr/>
        </p:nvSpPr>
        <p:spPr>
          <a:xfrm>
            <a:off x="3533626" y="2228850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内容矩阵规划</a:t>
            </a:r>
            <a:endParaRPr lang="en-US" sz="1200" dirty="0"/>
          </a:p>
        </p:txBody>
      </p:sp>
      <p:sp>
        <p:nvSpPr>
          <p:cNvPr id="11" name="Text 6"/>
          <p:cNvSpPr/>
          <p:nvPr/>
        </p:nvSpPr>
        <p:spPr>
          <a:xfrm>
            <a:off x="3533626" y="2519363"/>
            <a:ext cx="2076301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围绕品牌核心价值，设计主题递进的推文序列。通过话题延展与形式差异化，形成从引流到转化的闭环链条，增强用户持续关注动力。</a:t>
            </a:r>
            <a:endParaRPr lang="en-US" sz="10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4"/>
          <a:srcRect l="0" r="0" t="0" b="0"/>
          <a:stretch/>
        </p:blipFill>
        <p:spPr>
          <a:xfrm>
            <a:off x="5962352" y="1447800"/>
            <a:ext cx="2781151" cy="2547938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6314777" y="2228850"/>
            <a:ext cx="2076301" cy="252413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88"/>
              </a:lnSpc>
              <a:buNone/>
            </a:pPr>
            <a:r>
              <a:rPr lang="en-US" sz="1200" b="1" dirty="0">
                <a:solidFill>
                  <a:srgbClr val="333333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联动传播增效</a:t>
            </a:r>
            <a:endParaRPr lang="en-US" sz="1200" dirty="0"/>
          </a:p>
        </p:txBody>
      </p:sp>
      <p:sp>
        <p:nvSpPr>
          <p:cNvPr id="14" name="Text 8"/>
          <p:cNvSpPr/>
          <p:nvPr/>
        </p:nvSpPr>
        <p:spPr>
          <a:xfrm>
            <a:off x="6314777" y="2519363"/>
            <a:ext cx="2076301" cy="8763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650"/>
              </a:lnSpc>
              <a:buNone/>
            </a:pPr>
            <a:r>
              <a:rPr lang="en-US" sz="1050" dirty="0">
                <a:solidFill>
                  <a:srgbClr val="666666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打通公众号、社群与外部平台进行多端分发。利用统一视觉与互动机制，激发用户分享，实现单篇内容势能向整体生态流量的转化。</a:t>
            </a:r>
            <a:endParaRPr lang="en-US" sz="105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rcRect l="0" r="0" t="0" b="0"/>
          <a:stretch/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571500" y="2014538"/>
            <a:ext cx="8001000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5250"/>
              </a:lnSpc>
              <a:buNone/>
            </a:pPr>
            <a:r>
              <a:rPr lang="en-US" sz="375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THANKS</a:t>
            </a:r>
            <a:endParaRPr lang="en-US" sz="3750" dirty="0"/>
          </a:p>
        </p:txBody>
      </p:sp>
      <p:sp>
        <p:nvSpPr>
          <p:cNvPr id="4" name="Shape 1"/>
          <p:cNvSpPr/>
          <p:nvPr/>
        </p:nvSpPr>
        <p:spPr>
          <a:xfrm>
            <a:off x="571500" y="3014663"/>
            <a:ext cx="604838" cy="114300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5" name="Text 2"/>
          <p:cNvSpPr/>
          <p:nvPr/>
        </p:nvSpPr>
        <p:spPr>
          <a:xfrm>
            <a:off x="571500" y="3462337"/>
            <a:ext cx="8001000" cy="190500"/>
          </a:xfrm>
          <a:prstGeom prst="rect">
            <a:avLst/>
          </a:prstGeom>
          <a:noFill/>
          <a:ln/>
        </p:spPr>
        <p:txBody>
          <a:bodyPr wrap="square" lIns="0" tIns="0" rIns="0" bIns="0" rtlCol="0" anchor="ctr" vert="horz"/>
          <a:lstStyle/>
          <a:p>
            <a:pPr algn="l" indent="0" marL="0">
              <a:lnSpc>
                <a:spcPts val="1500"/>
              </a:lnSpc>
              <a:buNone/>
            </a:pP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2026-05-25T09:28:58Z</dcterms:created>
  <dcterms:modified xsi:type="dcterms:W3CDTF">2026-05-25T09:28:58Z</dcterms:modified>
</cp:coreProperties>
</file>

<file path=docProps/custom.xml><?xml version="1.0" encoding="utf-8"?>
<ns0:Properties xmlns:ns0="http://schemas.openxmlformats.org/officeDocument/2006/custom-properties" xmlns:ns1="http://schemas.openxmlformats.org/officeDocument/2006/docPropsVTypes" xmlns="http://schemas.openxmlformats.org/officeDocument/2006/custom-properties" xmlns:vt="http://schemas.openxmlformats.org/officeDocument/2006/docPropsVTypes">
  <ns0:property fmtid="{D5CDD505-2E9C-101B-9397-08002B2CF9AE}" pid="2" name="AIGC">
    <ns1:lpwstr>{"Label": 1, "ContentProducer": "001191330110MADHPQQY7L10000", "ProduceID": "bd3b21134ddd3a6731e437f2ff842ea7", "ReservedCode1": "84f9d71e21fe7707bf8e1dc3fe92c4a877ef86cbef3b4d3331d40e411c5a644c", "ContentPropagator": "001191330110MADHPQQY7L10000", "PropagateID": "bd3b21134ddd3a6731e437f2ff842ea7", "ReservedCode2": ""}</ns1:lpwstr>
  </ns0:property>
</ns0:Properties>
</file>